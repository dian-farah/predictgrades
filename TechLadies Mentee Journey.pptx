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5" r:id="rId3"/>
    <p:sldId id="269" r:id="rId4"/>
    <p:sldId id="270" r:id="rId5"/>
    <p:sldId id="271" r:id="rId6"/>
    <p:sldId id="272" r:id="rId7"/>
    <p:sldId id="260" r:id="rId8"/>
    <p:sldId id="26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5C755C8-A306-2C8E-48C8-2FD294A70161}" name="Dian Farah BINTE RIDUAN" initials="DFBR" userId="S::dianfarahr.2019@scis.smu.edu.sg::132d5cef-d29d-442e-a6d7-537b39515cf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8/10/relationships/authors" Target="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FD63B-B016-4E3C-8D15-3EEB781D88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39B4AD-85E3-46A7-970C-DEDDFF52DB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8490DF-ED71-4EFC-AB7E-82077072F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C3E24-79E0-4FC2-BD18-22BF7A210E30}" type="datetimeFigureOut">
              <a:rPr lang="en-SG" smtClean="0"/>
              <a:t>27/11/2021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E89A5-EE06-4DEF-A325-CA85604FC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539558-420C-463D-AB9C-04917D329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6877E-238C-44CA-9F29-AB1D6DEB785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88274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35615-E98C-4108-A23D-8601DD2A2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2013B-BCE4-4512-8EBC-432487F418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4E9DE-C7DF-46CA-9A33-19923D208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C3E24-79E0-4FC2-BD18-22BF7A210E30}" type="datetimeFigureOut">
              <a:rPr lang="en-SG" smtClean="0"/>
              <a:t>27/11/2021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09DD7-C077-4843-B28B-46F957AE7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AB30C3-C743-4722-8E6E-62A7F3433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6877E-238C-44CA-9F29-AB1D6DEB785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11883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5E3FA-43FA-43AF-A6B8-B9AC0DCD7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64E335-12DD-43EF-979D-FDA05028E4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7AC76-E979-4375-AA02-5E23ED38A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C3E24-79E0-4FC2-BD18-22BF7A210E30}" type="datetimeFigureOut">
              <a:rPr lang="en-SG" smtClean="0"/>
              <a:t>27/11/2021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62EE63-BA34-4404-BF6C-8CD0CD4C5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99B437-8DF4-4FD0-9384-03981ADF8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6877E-238C-44CA-9F29-AB1D6DEB785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97261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1402E-91D5-4A67-BD8F-A566DBF59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6FA90-FD63-4B0F-A315-6AA94A918A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6032A5-9B11-4591-A1FC-813192ABDF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7BD091-B8CD-4635-936C-D17FA0CA8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C3E24-79E0-4FC2-BD18-22BF7A210E30}" type="datetimeFigureOut">
              <a:rPr lang="en-SG" smtClean="0"/>
              <a:t>27/11/2021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C7B24F-0E66-42BC-9FE4-B655A5922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1287C3-A60A-47BE-B7C7-27ED97C11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6877E-238C-44CA-9F29-AB1D6DEB785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63914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1F409-91C0-428B-AE37-A6000058C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52C900-333E-4A22-BD0C-729EC67945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0049A0-8C54-4CA4-BC15-6C0A860BA6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1AA7A7-1164-46E2-AAAB-FDDF3CF805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C38ADA-FFED-4283-BF3E-BE96374185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76841-C2B9-4938-8909-6D7DB5657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C3E24-79E0-4FC2-BD18-22BF7A210E30}" type="datetimeFigureOut">
              <a:rPr lang="en-SG" smtClean="0"/>
              <a:t>27/11/2021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8A10F1-2CBB-4B70-92B5-8B8736978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3EEE30-25D9-4EA6-9E94-F716EFC10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6877E-238C-44CA-9F29-AB1D6DEB785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14033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5ECAE-1713-4489-B605-CE4D17279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A8896-E1C0-4315-B1E8-8BA919098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C3E24-79E0-4FC2-BD18-22BF7A210E30}" type="datetimeFigureOut">
              <a:rPr lang="en-SG" smtClean="0"/>
              <a:t>27/11/2021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5B735C-9B00-4C67-836D-2D8FFC007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4A02A6-AAFA-4E68-8C06-C4FB79AD7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6877E-238C-44CA-9F29-AB1D6DEB785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94112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1424B0-C49A-49DB-9DE3-22D20C34F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C3E24-79E0-4FC2-BD18-22BF7A210E30}" type="datetimeFigureOut">
              <a:rPr lang="en-SG" smtClean="0"/>
              <a:t>27/11/2021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129A56-67CA-4EA9-840A-418FB3D5C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7965F8-9BD7-431C-AC4D-CADE19CB2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6877E-238C-44CA-9F29-AB1D6DEB785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02798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FF537-9D94-4586-9C3F-79E36AE5F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440BE-1BCA-4BFF-AE44-346CFB832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F5500B-8DD1-4706-8358-91475452E7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4BE234-0701-4ACA-855E-9C319158F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C3E24-79E0-4FC2-BD18-22BF7A210E30}" type="datetimeFigureOut">
              <a:rPr lang="en-SG" smtClean="0"/>
              <a:t>27/11/2021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6C2ED8-7D13-4F6C-BD79-E1EB59EBE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A4A093-A641-4022-80AD-9310DDB04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6877E-238C-44CA-9F29-AB1D6DEB785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50862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076EB-5689-4F64-A3DE-FF96FE483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6B3E99-B5B1-4F19-AC4E-D3EA929F72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518448-60B6-4D9E-AD18-23FB32C8D7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6A512-69EC-47F9-B378-F0C39A57F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C3E24-79E0-4FC2-BD18-22BF7A210E30}" type="datetimeFigureOut">
              <a:rPr lang="en-SG" smtClean="0"/>
              <a:t>27/11/2021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960612-D4E7-400F-9F6C-C1AF1AB6F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031C7-A30A-4D7E-A811-4D4172411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6877E-238C-44CA-9F29-AB1D6DEB785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8014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EDB2A-1676-42BB-A684-26056005E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503B9B-EA83-4A67-A323-B4EBD90DAD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1828D9-AC62-45F7-A888-3B42E5E40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C3E24-79E0-4FC2-BD18-22BF7A210E30}" type="datetimeFigureOut">
              <a:rPr lang="en-SG" smtClean="0"/>
              <a:t>27/11/2021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40FF5-8FED-4729-8346-67865C34C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48482-1FD5-444F-8EE5-89A8C81D5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6877E-238C-44CA-9F29-AB1D6DEB785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06336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6561DA-9444-489C-957E-AE7AD7AF1F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8ED88C-A54A-41C9-B411-5240E15470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CDA39-A10A-4346-8DA4-CAC61C766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C3E24-79E0-4FC2-BD18-22BF7A210E30}" type="datetimeFigureOut">
              <a:rPr lang="en-SG" smtClean="0"/>
              <a:t>27/11/2021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C49EE1-AD0F-41B3-A604-A82DAAE56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D6A81-D7C0-4C29-B526-5CDB03682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6877E-238C-44CA-9F29-AB1D6DEB785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19749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8CB9D2-9DE4-4798-BDED-5A9F98283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10C5AF-F60A-4568-ABFB-9F2786FFF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5B5B7-BD91-49C2-A8EB-1D9F94F394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AC3E24-79E0-4FC2-BD18-22BF7A210E30}" type="datetimeFigureOut">
              <a:rPr lang="en-SG" smtClean="0"/>
              <a:t>27/11/2021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ED848-1A9F-4035-AF02-E2B4E66945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4230A-E516-47E0-8D2C-F13A39B0C2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26877E-238C-44CA-9F29-AB1D6DEB785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17248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2A8AA5BC-4F7A-4226-8F99-6D824B226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11DBBF1-3229-4BD9-B3D1-B4CA571E74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1587599"/>
            <a:ext cx="12188824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5BC87C3E-1040-4EE4-9BDB-9537F7A1B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6" y="1712256"/>
            <a:ext cx="12188824" cy="34334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5BD587-671D-4EE2-BA29-841626913E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5338" y="1875822"/>
            <a:ext cx="10601325" cy="1857374"/>
          </a:xfrm>
        </p:spPr>
        <p:txBody>
          <a:bodyPr>
            <a:normAutofit/>
          </a:bodyPr>
          <a:lstStyle/>
          <a:p>
            <a:r>
              <a:rPr lang="en-US"/>
              <a:t>TechLadies Mentee Journey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B011BF-728E-4AC6-BD39-5131200B81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5338" y="3941508"/>
            <a:ext cx="10601325" cy="736980"/>
          </a:xfrm>
        </p:spPr>
        <p:txBody>
          <a:bodyPr>
            <a:normAutofit/>
          </a:bodyPr>
          <a:lstStyle/>
          <a:p>
            <a:r>
              <a:rPr lang="en-US" dirty="0"/>
              <a:t>Data Science</a:t>
            </a:r>
            <a:endParaRPr lang="en-SG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5CD5A0B-CDD7-427C-AA42-2EECFDFA1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5270402"/>
            <a:ext cx="12188824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54EEF01-190A-468F-A13C-CD98AC1C7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3998" y="5123318"/>
            <a:ext cx="9144001" cy="91168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4913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2A8AA5BC-4F7A-4226-8F99-6D824B226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11DBBF1-3229-4BD9-B3D1-B4CA571E74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1587599"/>
            <a:ext cx="12188824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5BC87C3E-1040-4EE4-9BDB-9537F7A1B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6" y="1712256"/>
            <a:ext cx="12188824" cy="34334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5BD587-671D-4EE2-BA29-841626913E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5338" y="2233626"/>
            <a:ext cx="10601325" cy="1857374"/>
          </a:xfrm>
        </p:spPr>
        <p:txBody>
          <a:bodyPr>
            <a:normAutofit/>
          </a:bodyPr>
          <a:lstStyle/>
          <a:p>
            <a:r>
              <a:rPr lang="en-US" sz="4800" dirty="0"/>
              <a:t>Predicting Students’ Grade Categories Project Using R</a:t>
            </a:r>
            <a:endParaRPr lang="en-SG" sz="4800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5CD5A0B-CDD7-427C-AA42-2EECFDFA1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5270402"/>
            <a:ext cx="12188824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54EEF01-190A-468F-A13C-CD98AC1C7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3998" y="5123318"/>
            <a:ext cx="9144001" cy="91168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039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4DEAF-0349-4BA0-AA56-E3B636412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Rise of Online Learning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4987A-7E3C-467C-8C65-A2646FA411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Covid-19 increased prevalence of remote learning</a:t>
            </a:r>
          </a:p>
          <a:p>
            <a:r>
              <a:rPr lang="en-US" b="0" i="0" dirty="0">
                <a:solidFill>
                  <a:srgbClr val="333333"/>
                </a:solidFill>
                <a:effectLst/>
              </a:rPr>
              <a:t>Even before the pandemic, Research and Markets forecasts the online education market as $350 Billion by 2025</a:t>
            </a:r>
          </a:p>
          <a:p>
            <a:r>
              <a:rPr lang="en-US" dirty="0">
                <a:solidFill>
                  <a:srgbClr val="333333"/>
                </a:solidFill>
              </a:rPr>
              <a:t>Allow learners to learn fast and at their own pace</a:t>
            </a:r>
          </a:p>
          <a:p>
            <a:r>
              <a:rPr lang="en-SG" b="1" dirty="0"/>
              <a:t>Give better help to students if educators can identify those that need more help through prediction</a:t>
            </a:r>
          </a:p>
        </p:txBody>
      </p:sp>
    </p:spTree>
    <p:extLst>
      <p:ext uri="{BB962C8B-B14F-4D97-AF65-F5344CB8AC3E}">
        <p14:creationId xmlns:p14="http://schemas.microsoft.com/office/powerpoint/2010/main" val="316945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B152E-D057-41F2-9AC3-8094E9DE6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Exploration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E8E66D-591C-4798-A3CC-61DD80185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1777211"/>
            <a:ext cx="3207026" cy="35692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01E163B-3C11-4BDD-A8D7-FD28ED3570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5876" y="1777210"/>
            <a:ext cx="6098972" cy="376393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9EE0748-E46A-4DB6-AF25-6F682E1A12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1213" y="2945831"/>
            <a:ext cx="1498677" cy="1231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248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2CD96-CB16-417B-832C-D976E5E53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SG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978AF44-BE77-4AB2-995D-670D77E3E5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0240060"/>
              </p:ext>
            </p:extLst>
          </p:nvPr>
        </p:nvGraphicFramePr>
        <p:xfrm>
          <a:off x="564894" y="1573182"/>
          <a:ext cx="11322306" cy="13255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58628">
                  <a:extLst>
                    <a:ext uri="{9D8B030D-6E8A-4147-A177-3AD203B41FA5}">
                      <a16:colId xmlns:a16="http://schemas.microsoft.com/office/drawing/2014/main" val="104606347"/>
                    </a:ext>
                  </a:extLst>
                </a:gridCol>
                <a:gridCol w="4015408">
                  <a:extLst>
                    <a:ext uri="{9D8B030D-6E8A-4147-A177-3AD203B41FA5}">
                      <a16:colId xmlns:a16="http://schemas.microsoft.com/office/drawing/2014/main" val="2472151601"/>
                    </a:ext>
                  </a:extLst>
                </a:gridCol>
                <a:gridCol w="3548270">
                  <a:extLst>
                    <a:ext uri="{9D8B030D-6E8A-4147-A177-3AD203B41FA5}">
                      <a16:colId xmlns:a16="http://schemas.microsoft.com/office/drawing/2014/main" val="1829457043"/>
                    </a:ext>
                  </a:extLst>
                </a:gridCol>
              </a:tblGrid>
              <a:tr h="66278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Decision Tree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Random Forest with Bagging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Support Vector Machine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8656518"/>
                  </a:ext>
                </a:extLst>
              </a:tr>
              <a:tr h="662782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70.83%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75%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81.94%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434861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926D64C5-7923-47B4-A467-BCE13F571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084" y="3014168"/>
            <a:ext cx="2133710" cy="11557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82823A0-EE42-4855-B10E-9A1DBE8587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894" y="4522304"/>
            <a:ext cx="3720809" cy="186040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70BFE88-C0A9-43E3-9EDB-BDF56ACF70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4678" y="3039569"/>
            <a:ext cx="2159111" cy="113035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39CF831-A219-4120-9F3F-B581FAE32E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3862" y="4501632"/>
            <a:ext cx="3800741" cy="188107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F646E1C-E7BD-4509-AD72-75A43DAEB7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7243" y="3014168"/>
            <a:ext cx="2076557" cy="122561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ECDD716-D3FD-4452-9D9B-26485A7A0E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4055" y="4501632"/>
            <a:ext cx="3513145" cy="1878494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E3DE0397-6018-455F-89CB-9E8DB837F4A1}"/>
              </a:ext>
            </a:extLst>
          </p:cNvPr>
          <p:cNvSpPr/>
          <p:nvPr/>
        </p:nvSpPr>
        <p:spPr>
          <a:xfrm>
            <a:off x="564894" y="5565913"/>
            <a:ext cx="3720809" cy="2069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4E84B0F-46C1-4282-85C1-1EB499B94BAB}"/>
              </a:ext>
            </a:extLst>
          </p:cNvPr>
          <p:cNvSpPr/>
          <p:nvPr/>
        </p:nvSpPr>
        <p:spPr>
          <a:xfrm>
            <a:off x="4475237" y="5550241"/>
            <a:ext cx="3800741" cy="22257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E93236B-DD04-4ED8-A640-F4693249BD56}"/>
              </a:ext>
            </a:extLst>
          </p:cNvPr>
          <p:cNvSpPr/>
          <p:nvPr/>
        </p:nvSpPr>
        <p:spPr>
          <a:xfrm>
            <a:off x="8374055" y="5518933"/>
            <a:ext cx="3513145" cy="1993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3EEBE55-86CD-4C5C-BB92-8DDBCD73065D}"/>
              </a:ext>
            </a:extLst>
          </p:cNvPr>
          <p:cNvSpPr/>
          <p:nvPr/>
        </p:nvSpPr>
        <p:spPr>
          <a:xfrm>
            <a:off x="8706678" y="1337434"/>
            <a:ext cx="2920428" cy="77917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54553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BF72C-6197-435F-A598-BA74F7883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Findings</a:t>
            </a:r>
            <a:endParaRPr lang="en-S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07C6B5-02A3-47A8-ABE6-6A673113F7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71109" y="1690688"/>
            <a:ext cx="4349974" cy="407055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24B638-8195-48AE-B64D-08FE0EF7559E}"/>
              </a:ext>
            </a:extLst>
          </p:cNvPr>
          <p:cNvSpPr txBox="1"/>
          <p:nvPr/>
        </p:nvSpPr>
        <p:spPr>
          <a:xfrm>
            <a:off x="838200" y="1690688"/>
            <a:ext cx="5969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Top 5 most important variables:</a:t>
            </a:r>
          </a:p>
          <a:p>
            <a:pPr marL="342900" indent="-342900">
              <a:buAutoNum type="arabicPeriod"/>
            </a:pPr>
            <a:r>
              <a:rPr lang="en-SG" sz="2000" dirty="0"/>
              <a:t>Student Absence Days</a:t>
            </a:r>
          </a:p>
          <a:p>
            <a:pPr marL="342900" indent="-342900">
              <a:buAutoNum type="arabicPeriod"/>
            </a:pPr>
            <a:r>
              <a:rPr lang="en-SG" sz="2000" dirty="0"/>
              <a:t>Visited Resources</a:t>
            </a:r>
          </a:p>
          <a:p>
            <a:pPr marL="342900" indent="-342900">
              <a:buAutoNum type="arabicPeriod"/>
            </a:pPr>
            <a:r>
              <a:rPr lang="en-SG" sz="2000" dirty="0"/>
              <a:t>Raised Hands</a:t>
            </a:r>
          </a:p>
          <a:p>
            <a:pPr marL="342900" indent="-342900">
              <a:buAutoNum type="arabicPeriod"/>
            </a:pPr>
            <a:r>
              <a:rPr lang="en-SG" sz="2000" dirty="0"/>
              <a:t>Announcements View</a:t>
            </a:r>
          </a:p>
          <a:p>
            <a:pPr marL="342900" indent="-342900">
              <a:buAutoNum type="arabicPeriod"/>
            </a:pPr>
            <a:r>
              <a:rPr lang="en-SG" sz="2000" dirty="0"/>
              <a:t>Parent Answering Survey</a:t>
            </a:r>
          </a:p>
          <a:p>
            <a:pPr marL="342900" indent="-342900">
              <a:buAutoNum type="arabicPeriod"/>
            </a:pPr>
            <a:endParaRPr lang="en-SG" sz="2000" dirty="0"/>
          </a:p>
          <a:p>
            <a:r>
              <a:rPr lang="en-SG" sz="2000" dirty="0"/>
              <a:t>Variable that worsen accuracy of model : Semester</a:t>
            </a:r>
          </a:p>
        </p:txBody>
      </p:sp>
    </p:spTree>
    <p:extLst>
      <p:ext uri="{BB962C8B-B14F-4D97-AF65-F5344CB8AC3E}">
        <p14:creationId xmlns:p14="http://schemas.microsoft.com/office/powerpoint/2010/main" val="1630330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D793A4-8168-460D-8B82-7FDC0C36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Improvements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CB4BC1B-BD10-4423-A3B1-A27125212F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8333"/>
            <a:ext cx="10515600" cy="579645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Explore Stratified sampling / methods that will balance data</a:t>
            </a:r>
            <a:endParaRPr lang="en-SG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71854023-EB92-4268-BCB4-6201F494EFD2}"/>
              </a:ext>
            </a:extLst>
          </p:cNvPr>
          <p:cNvSpPr txBox="1">
            <a:spLocks/>
          </p:cNvSpPr>
          <p:nvPr/>
        </p:nvSpPr>
        <p:spPr>
          <a:xfrm>
            <a:off x="838200" y="6061669"/>
            <a:ext cx="10515600" cy="5796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Explore Gradient Boosting for Random Forest</a:t>
            </a:r>
            <a:endParaRPr lang="en-S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BC7FAC-0CB9-4D80-BAEB-C990FD3B9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3764" y="2117035"/>
            <a:ext cx="6279871" cy="3875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905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A3C47C2-33A2-44B2-BEAB-FEB679075C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3324"/>
            <a:ext cx="12192000" cy="6861324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 3">
            <a:extLst>
              <a:ext uri="{FF2B5EF4-FFF2-40B4-BE49-F238E27FC236}">
                <a16:creationId xmlns:a16="http://schemas.microsoft.com/office/drawing/2014/main" id="{AD182BA8-54AD-4D9F-8264-B0FA8BB47D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246925" y="-479"/>
            <a:ext cx="9468701" cy="6858478"/>
          </a:xfrm>
          <a:custGeom>
            <a:avLst/>
            <a:gdLst>
              <a:gd name="connsiteX0" fmla="*/ 0 w 8078051"/>
              <a:gd name="connsiteY0" fmla="*/ 0 h 5829300"/>
              <a:gd name="connsiteX1" fmla="*/ 4453793 w 8078051"/>
              <a:gd name="connsiteY1" fmla="*/ 0 h 5829300"/>
              <a:gd name="connsiteX2" fmla="*/ 5363426 w 8078051"/>
              <a:gd name="connsiteY2" fmla="*/ 0 h 5829300"/>
              <a:gd name="connsiteX3" fmla="*/ 5368184 w 8078051"/>
              <a:gd name="connsiteY3" fmla="*/ 0 h 5829300"/>
              <a:gd name="connsiteX4" fmla="*/ 8078051 w 8078051"/>
              <a:gd name="connsiteY4" fmla="*/ 5829300 h 5829300"/>
              <a:gd name="connsiteX5" fmla="*/ 1743926 w 8078051"/>
              <a:gd name="connsiteY5" fmla="*/ 5829300 h 5829300"/>
              <a:gd name="connsiteX6" fmla="*/ 1744148 w 8078051"/>
              <a:gd name="connsiteY6" fmla="*/ 5828822 h 5829300"/>
              <a:gd name="connsiteX7" fmla="*/ 0 w 8078051"/>
              <a:gd name="connsiteY7" fmla="*/ 5828822 h 582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078051" h="5829300">
                <a:moveTo>
                  <a:pt x="0" y="0"/>
                </a:moveTo>
                <a:lnTo>
                  <a:pt x="4453793" y="0"/>
                </a:lnTo>
                <a:lnTo>
                  <a:pt x="5363426" y="0"/>
                </a:lnTo>
                <a:lnTo>
                  <a:pt x="5368184" y="0"/>
                </a:lnTo>
                <a:lnTo>
                  <a:pt x="8078051" y="5829300"/>
                </a:lnTo>
                <a:lnTo>
                  <a:pt x="1743926" y="5829300"/>
                </a:lnTo>
                <a:lnTo>
                  <a:pt x="1744148" y="5828822"/>
                </a:lnTo>
                <a:lnTo>
                  <a:pt x="0" y="5828822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 16">
            <a:extLst>
              <a:ext uri="{FF2B5EF4-FFF2-40B4-BE49-F238E27FC236}">
                <a16:creationId xmlns:a16="http://schemas.microsoft.com/office/drawing/2014/main" id="{4ED83379-0499-45E1-AB78-6AA230F964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479"/>
            <a:ext cx="9324977" cy="6858479"/>
          </a:xfrm>
          <a:custGeom>
            <a:avLst/>
            <a:gdLst>
              <a:gd name="connsiteX0" fmla="*/ 1246925 w 9324977"/>
              <a:gd name="connsiteY0" fmla="*/ 0 h 6858479"/>
              <a:gd name="connsiteX1" fmla="*/ 5076797 w 9324977"/>
              <a:gd name="connsiteY1" fmla="*/ 0 h 6858479"/>
              <a:gd name="connsiteX2" fmla="*/ 6143025 w 9324977"/>
              <a:gd name="connsiteY2" fmla="*/ 0 h 6858479"/>
              <a:gd name="connsiteX3" fmla="*/ 6148602 w 9324977"/>
              <a:gd name="connsiteY3" fmla="*/ 0 h 6858479"/>
              <a:gd name="connsiteX4" fmla="*/ 9324977 w 9324977"/>
              <a:gd name="connsiteY4" fmla="*/ 6858478 h 6858479"/>
              <a:gd name="connsiteX5" fmla="*/ 3359025 w 9324977"/>
              <a:gd name="connsiteY5" fmla="*/ 6858478 h 6858479"/>
              <a:gd name="connsiteX6" fmla="*/ 3359025 w 9324977"/>
              <a:gd name="connsiteY6" fmla="*/ 6858479 h 6858479"/>
              <a:gd name="connsiteX7" fmla="*/ 0 w 9324977"/>
              <a:gd name="connsiteY7" fmla="*/ 6858479 h 6858479"/>
              <a:gd name="connsiteX8" fmla="*/ 0 w 9324977"/>
              <a:gd name="connsiteY8" fmla="*/ 479 h 6858479"/>
              <a:gd name="connsiteX9" fmla="*/ 1246925 w 9324977"/>
              <a:gd name="connsiteY9" fmla="*/ 479 h 6858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24977" h="6858479">
                <a:moveTo>
                  <a:pt x="1246925" y="0"/>
                </a:moveTo>
                <a:lnTo>
                  <a:pt x="5076797" y="0"/>
                </a:lnTo>
                <a:lnTo>
                  <a:pt x="6143025" y="0"/>
                </a:lnTo>
                <a:lnTo>
                  <a:pt x="6148602" y="0"/>
                </a:lnTo>
                <a:lnTo>
                  <a:pt x="9324977" y="6858478"/>
                </a:lnTo>
                <a:lnTo>
                  <a:pt x="3359025" y="6858478"/>
                </a:lnTo>
                <a:lnTo>
                  <a:pt x="3359025" y="6858479"/>
                </a:lnTo>
                <a:lnTo>
                  <a:pt x="0" y="6858479"/>
                </a:lnTo>
                <a:lnTo>
                  <a:pt x="0" y="479"/>
                </a:lnTo>
                <a:lnTo>
                  <a:pt x="1246925" y="479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F733176-6A36-4FA7-AF92-9E28C7485C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962246"/>
            <a:ext cx="6437700" cy="2611967"/>
          </a:xfrm>
        </p:spPr>
        <p:txBody>
          <a:bodyPr anchor="b">
            <a:normAutofit/>
          </a:bodyPr>
          <a:lstStyle/>
          <a:p>
            <a:pPr algn="l"/>
            <a:r>
              <a:rPr lang="en-US" sz="5400"/>
              <a:t>Thank you!</a:t>
            </a:r>
            <a:endParaRPr lang="en-SG" sz="540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ADA9AC2-046D-4042-A5DF-F85DBEB888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3719618"/>
            <a:ext cx="4167376" cy="1155525"/>
          </a:xfrm>
        </p:spPr>
        <p:txBody>
          <a:bodyPr anchor="t">
            <a:normAutofit/>
          </a:bodyPr>
          <a:lstStyle/>
          <a:p>
            <a:pPr algn="l"/>
            <a:endParaRPr lang="en-SG" sz="2000"/>
          </a:p>
        </p:txBody>
      </p:sp>
    </p:spTree>
    <p:extLst>
      <p:ext uri="{BB962C8B-B14F-4D97-AF65-F5344CB8AC3E}">
        <p14:creationId xmlns:p14="http://schemas.microsoft.com/office/powerpoint/2010/main" val="37187543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2233</TotalTime>
  <Words>133</Words>
  <Application>Microsoft Office PowerPoint</Application>
  <PresentationFormat>Widescreen</PresentationFormat>
  <Paragraphs>29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TechLadies Mentee Journey</vt:lpstr>
      <vt:lpstr>Predicting Students’ Grade Categories Project Using R</vt:lpstr>
      <vt:lpstr>Rise of Online Learning</vt:lpstr>
      <vt:lpstr>Data Exploration</vt:lpstr>
      <vt:lpstr>Results</vt:lpstr>
      <vt:lpstr>Additional Findings</vt:lpstr>
      <vt:lpstr>Improvements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TechLadies Mentee Journey</dc:title>
  <dc:creator>Dian Farah BINTE RIDUAN</dc:creator>
  <cp:lastModifiedBy>Dian Farah BINTE RIDUAN</cp:lastModifiedBy>
  <cp:revision>9</cp:revision>
  <dcterms:created xsi:type="dcterms:W3CDTF">2021-11-20T04:56:19Z</dcterms:created>
  <dcterms:modified xsi:type="dcterms:W3CDTF">2021-11-27T04:24:01Z</dcterms:modified>
</cp:coreProperties>
</file>